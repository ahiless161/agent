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48056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1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ИНВЕСТОРСКИЙ ОБЗОР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A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РЕГИСТРА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Товарный знак:</a:t>
            </a:r>
            <a:endParaRPr lang="en-US" sz="4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 решения до документов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3886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DDE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Проверяемая автоматизация для предпринимателей</a:t>
            </a:r>
            <a:endParaRPr lang="en-US" sz="2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DDE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 рабочее место для юридических команд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372600" y="1097280"/>
            <a:ext cx="2148840" cy="2148840"/>
          </a:xfrm>
          <a:prstGeom prst="ellipse">
            <a:avLst/>
          </a:prstGeom>
          <a:solidFill>
            <a:srgbClr val="FFFFFF">
              <a:alpha val="0"/>
            </a:srgbClr>
          </a:solidFill>
          <a:ln w="76200">
            <a:solidFill>
              <a:srgbClr val="18A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30384" y="1655064"/>
            <a:ext cx="1033272" cy="1033272"/>
          </a:xfrm>
          <a:prstGeom prst="ellipse">
            <a:avLst/>
          </a:prstGeom>
          <a:solidFill>
            <a:srgbClr val="0B1F2A"/>
          </a:solidFill>
          <a:ln w="25400">
            <a:solidFill>
              <a:srgbClr val="F5F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30384" y="1856232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D5C55"/>
          </a:solidFill>
          <a:ln w="12700">
            <a:solidFill>
              <a:srgbClr val="0D5C5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5661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СЕЙЧАС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Новая категория заявителей</a:t>
            </a:r>
            <a:endParaRPr lang="en-US" sz="3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уже растёт быстрее рынка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0D5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25 212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85800" y="30906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заявок от физлиц и самозанятых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исследованном периоде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577840" y="2057400"/>
            <a:ext cx="5394960" cy="2560320"/>
          </a:xfrm>
          <a:prstGeom prst="roundRect">
            <a:avLst>
              <a:gd name="adj" fmla="val 6429"/>
            </a:avLst>
          </a:prstGeom>
          <a:solidFill>
            <a:srgbClr val="0B1F2A"/>
          </a:solidFill>
          <a:ln w="12700">
            <a:solidFill>
              <a:srgbClr val="0B1F2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248716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18A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+17,8%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016752" y="33832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рост заявок самозанятых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окно открыто, но basic search дешевеет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61996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 и период — в полном аналитическом отчёте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D5C55"/>
          </a:solidFill>
          <a:ln w="12700">
            <a:solidFill>
              <a:srgbClr val="0D5C5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5661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 подачи нельзя ошибиться</a:t>
            </a:r>
            <a:endParaRPr lang="en-US" sz="3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трёх разных решениях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3246120"/>
          </a:xfrm>
          <a:prstGeom prst="roundRect">
            <a:avLst>
              <a:gd name="adj" fmla="val 4507"/>
            </a:avLst>
          </a:prstGeom>
          <a:solidFill>
            <a:srgbClr val="0B1F2A"/>
          </a:solidFill>
          <a:ln w="12700">
            <a:solidFill>
              <a:srgbClr val="0B1F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2148840"/>
            <a:ext cx="3429000" cy="3246120"/>
          </a:xfrm>
          <a:prstGeom prst="roundRect">
            <a:avLst>
              <a:gd name="adj" fmla="val 4507"/>
            </a:avLst>
          </a:prstGeom>
          <a:solidFill>
            <a:srgbClr val="0D5C55"/>
          </a:solidFill>
          <a:ln w="12700">
            <a:solidFill>
              <a:srgbClr val="0D5C5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2148840"/>
            <a:ext cx="3429000" cy="3246120"/>
          </a:xfrm>
          <a:prstGeom prst="roundRect">
            <a:avLst>
              <a:gd name="adj" fmla="val 4507"/>
            </a:avLst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4505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69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2971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СХОДСТВО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96112" y="37490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найденный знак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действительно опасен?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45152" y="24505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69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5152" y="2971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МКТУ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645152" y="37490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Какие товары и услуги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должна охранять заявка?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94192" y="24505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69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94192" y="2971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ПОДАЧИ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94192" y="37490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Кто контролирует статус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 готовит ответ?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" y="5715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95B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35 000 ₽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743200" y="57332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минимальные госпошлины простого кейса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 advClick="1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5661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1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РЕШЕНИЕ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 маршрут вместо набора сервисов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60120" y="3703320"/>
            <a:ext cx="10012680" cy="0"/>
          </a:xfrm>
          <a:prstGeom prst="line">
            <a:avLst/>
          </a:prstGeom>
          <a:noFill/>
          <a:ln w="38100">
            <a:solidFill>
              <a:srgbClr val="18A999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77240" y="3310128"/>
            <a:ext cx="749808" cy="749808"/>
          </a:xfrm>
          <a:prstGeom prst="ellipse">
            <a:avLst/>
          </a:prstGeom>
          <a:solidFill>
            <a:srgbClr val="0D5C55"/>
          </a:solidFill>
          <a:ln w="25400">
            <a:solidFill>
              <a:srgbClr val="18A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5021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315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ДАННЫЕ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15768" y="3310128"/>
            <a:ext cx="749808" cy="749808"/>
          </a:xfrm>
          <a:prstGeom prst="ellipse">
            <a:avLst/>
          </a:prstGeom>
          <a:solidFill>
            <a:srgbClr val="0D5C55"/>
          </a:solidFill>
          <a:ln w="25400">
            <a:solidFill>
              <a:srgbClr val="18A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5768" y="35021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95728" y="4315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ИЗВЛЕЧЕНИЕ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54296" y="3310128"/>
            <a:ext cx="749808" cy="749808"/>
          </a:xfrm>
          <a:prstGeom prst="ellipse">
            <a:avLst/>
          </a:prstGeom>
          <a:solidFill>
            <a:srgbClr val="0D5C55"/>
          </a:solidFill>
          <a:ln w="25400">
            <a:solidFill>
              <a:srgbClr val="18A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35021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34256" y="4315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МКТУ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92824" y="3310128"/>
            <a:ext cx="749808" cy="749808"/>
          </a:xfrm>
          <a:prstGeom prst="ellipse">
            <a:avLst/>
          </a:prstGeom>
          <a:solidFill>
            <a:srgbClr val="0D5C55"/>
          </a:solidFill>
          <a:ln w="25400">
            <a:solidFill>
              <a:srgbClr val="18A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92824" y="35021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72784" y="4315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31352" y="3310128"/>
            <a:ext cx="749808" cy="749808"/>
          </a:xfrm>
          <a:prstGeom prst="ellipse">
            <a:avLst/>
          </a:prstGeom>
          <a:solidFill>
            <a:srgbClr val="0D5C55"/>
          </a:solidFill>
          <a:ln w="25400">
            <a:solidFill>
              <a:srgbClr val="18A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1352" y="35021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11312" y="4315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ПОШЛИНЫ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469880" y="3310128"/>
            <a:ext cx="749808" cy="749808"/>
          </a:xfrm>
          <a:prstGeom prst="ellipse">
            <a:avLst/>
          </a:prstGeom>
          <a:solidFill>
            <a:srgbClr val="D69E2E"/>
          </a:solidFill>
          <a:ln w="25400">
            <a:solidFill>
              <a:srgbClr val="18A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69880" y="35021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149840" y="4315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DOCX / ZIP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521208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DDE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Пограничное дело сохраняет весь intake</a:t>
            </a:r>
            <a:endParaRPr lang="en-US" sz="1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DDE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 переходит к юристу без повторного ввода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D5C55"/>
          </a:solidFill>
          <a:ln w="12700">
            <a:solidFill>
              <a:srgbClr val="0D5C5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5661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ПРОДУКТ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Технический MVP уже закрывает</a:t>
            </a:r>
            <a:endParaRPr lang="en-US" sz="3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полный локальный путь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22402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0" b="1" dirty="0">
                <a:solidFill>
                  <a:srgbClr val="0D5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2240280" y="248716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этапов</a:t>
            </a:r>
            <a:endParaRPr lang="en-US" sz="2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одной заявки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0" y="2057400"/>
            <a:ext cx="2606040" cy="1234440"/>
          </a:xfrm>
          <a:prstGeom prst="roundRect">
            <a:avLst>
              <a:gd name="adj" fmla="val 10370"/>
            </a:avLst>
          </a:prstGeom>
          <a:solidFill>
            <a:srgbClr val="0B1F2A"/>
          </a:solidFill>
          <a:ln w="12700">
            <a:solidFill>
              <a:srgbClr val="0B1F2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87568" y="22402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69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87568" y="25786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извлечение + provenance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0" y="2057400"/>
            <a:ext cx="2606040" cy="1234440"/>
          </a:xfrm>
          <a:prstGeom prst="roundRect">
            <a:avLst>
              <a:gd name="adj" fmla="val 10370"/>
            </a:avLst>
          </a:prstGeom>
          <a:solidFill>
            <a:srgbClr val="0B1F2A"/>
          </a:solidFill>
          <a:ln w="12700">
            <a:solidFill>
              <a:srgbClr val="0B1F2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13648" y="22402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69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13648" y="25786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МКТУ и scope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0" y="3657600"/>
            <a:ext cx="2606040" cy="1234440"/>
          </a:xfrm>
          <a:prstGeom prst="roundRect">
            <a:avLst>
              <a:gd name="adj" fmla="val 10370"/>
            </a:avLst>
          </a:prstGeom>
          <a:solidFill>
            <a:srgbClr val="0B1F2A"/>
          </a:solidFill>
          <a:ln w="12700">
            <a:solidFill>
              <a:srgbClr val="0B1F2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87568" y="38404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69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87568" y="41788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выводы с основаниями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412480" y="3657600"/>
            <a:ext cx="2606040" cy="1234440"/>
          </a:xfrm>
          <a:prstGeom prst="roundRect">
            <a:avLst>
              <a:gd name="adj" fmla="val 10370"/>
            </a:avLst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13648" y="38404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69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13648" y="41788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DOCX / ZIP + worker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" y="61447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 test definitions инвентаризированы; полный прогон ещё не подтверждён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 advClick="1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D5C55"/>
          </a:solidFill>
          <a:ln w="12700">
            <a:solidFill>
              <a:srgbClr val="0D5C5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5661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РЫНОК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Достаточный для бизнеса.</a:t>
            </a:r>
            <a:endParaRPr lang="en-US" sz="3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 не история о миллиардах.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960120"/>
          </a:xfrm>
          <a:prstGeom prst="roundRect">
            <a:avLst>
              <a:gd name="adj" fmla="val 13333"/>
            </a:avLst>
          </a:prstGeom>
          <a:solidFill>
            <a:srgbClr val="0B1F2A"/>
          </a:solidFill>
          <a:ln w="12700">
            <a:solidFill>
              <a:srgbClr val="0B1F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3401568"/>
            <a:ext cx="9144000" cy="914400"/>
          </a:xfrm>
          <a:prstGeom prst="roundRect">
            <a:avLst>
              <a:gd name="adj" fmla="val 14000"/>
            </a:avLst>
          </a:prstGeom>
          <a:solidFill>
            <a:srgbClr val="0D5C55"/>
          </a:solidFill>
          <a:ln w="12700">
            <a:solidFill>
              <a:srgbClr val="0D5C5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4608576"/>
            <a:ext cx="6309360" cy="822960"/>
          </a:xfrm>
          <a:prstGeom prst="roundRect">
            <a:avLst>
              <a:gd name="adj" fmla="val 15556"/>
            </a:avLst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591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9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588–679 млн ₽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709160" y="2359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B2C transactions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35844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9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35570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134–155 млн ₽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577840" y="3584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beachhead · low confidence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480974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69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4782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0,95–1,90 млн ₽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281160" y="48097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120–240 core cases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00032" y="6016752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0" y="6025896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1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A · ESTIMATE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 advClick="1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D5C55"/>
          </a:solidFill>
          <a:ln w="12700">
            <a:solidFill>
              <a:srgbClr val="0D5C5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5661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КОНКУРЕНЦИЯ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ещё один поиск.</a:t>
            </a:r>
            <a:endParaRPr lang="en-US" sz="3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Проверяемая цепочка решения.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029200" cy="3474720"/>
          </a:xfrm>
          <a:prstGeom prst="roundRect">
            <a:avLst>
              <a:gd name="adj" fmla="val 4737"/>
            </a:avLst>
          </a:prstGeom>
          <a:solidFill>
            <a:srgbClr val="0B1F2A"/>
          </a:solidFill>
          <a:ln w="12700">
            <a:solidFill>
              <a:srgbClr val="0B1F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89320" y="2148840"/>
            <a:ext cx="5532120" cy="3474720"/>
          </a:xfrm>
          <a:prstGeom prst="roundRect">
            <a:avLst>
              <a:gd name="adj" fmla="val 4737"/>
            </a:avLst>
          </a:prstGeom>
          <a:solidFill>
            <a:srgbClr val="FFFDF8"/>
          </a:solidFill>
          <a:ln w="19050">
            <a:solidFill>
              <a:srgbClr val="DDE9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4871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8A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КОММОДИТИЗИРУЕТСЯ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090672"/>
            <a:ext cx="3977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базовый поиск</a:t>
            </a:r>
            <a:endParaRPr lang="en-US" sz="1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AI-score без объяснения</a:t>
            </a:r>
            <a:endParaRPr lang="en-US" sz="1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форма подачи</a:t>
            </a:r>
            <a:endParaRPr lang="en-US" sz="1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обещание «быстро»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355080" y="24871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D5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НАШ КЛИН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55080" y="306324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 → факт → вывод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МКТУ как управляемый scope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DOCX/ZIP без повторного ввода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Юрист на границе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 как lifecycle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" y="60807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Moat создают quality corpus, workflow data и доверие — не сам LLM.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5661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1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МОНЕТИЗАЦИЯ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Лестница цены следует</a:t>
            </a:r>
            <a:endParaRPr lang="en-US" sz="3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 сложностью дела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4800600"/>
            <a:ext cx="1691640" cy="914400"/>
          </a:xfrm>
          <a:prstGeom prst="roundRect">
            <a:avLst>
              <a:gd name="adj" fmla="val 14000"/>
            </a:avLst>
          </a:prstGeom>
          <a:solidFill>
            <a:srgbClr val="FFFDF8"/>
          </a:solidFill>
          <a:ln w="12700">
            <a:solidFill>
              <a:srgbClr val="FFFD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983480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₽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5422392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карта риска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4160520"/>
            <a:ext cx="1737360" cy="1554480"/>
          </a:xfrm>
          <a:prstGeom prst="roundRect">
            <a:avLst>
              <a:gd name="adj" fmla="val 8235"/>
            </a:avLst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24912" y="43434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B1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7 900 ₽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724912" y="4782312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1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пакет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3520440"/>
            <a:ext cx="1874520" cy="2194560"/>
          </a:xfrm>
          <a:prstGeom prst="roundRect">
            <a:avLst>
              <a:gd name="adj" fmla="val 6829"/>
            </a:avLst>
          </a:prstGeom>
          <a:solidFill>
            <a:srgbClr val="0D5C55"/>
          </a:solidFill>
          <a:ln w="12700">
            <a:solidFill>
              <a:srgbClr val="0D5C5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370332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11,9–17,9k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90872" y="4142232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юрист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29400" y="2834640"/>
            <a:ext cx="1920240" cy="2880360"/>
          </a:xfrm>
          <a:prstGeom prst="roundRect">
            <a:avLst>
              <a:gd name="adj" fmla="val 6667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93992" y="301752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 9,9k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793992" y="345643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78240" y="2148840"/>
            <a:ext cx="2423160" cy="3566160"/>
          </a:xfrm>
          <a:prstGeom prst="roundRect">
            <a:avLst>
              <a:gd name="adj" fmla="val 5283"/>
            </a:avLst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42832" y="233172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B1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50k / мес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942832" y="2770632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1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Pro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61447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DE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Подписка остаётся отдельным B2B discovery-контуром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 advClick="1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D5C55"/>
          </a:solidFill>
          <a:ln w="12700">
            <a:solidFill>
              <a:srgbClr val="0D5C5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5661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Первые 100 клиентов —</a:t>
            </a:r>
            <a:endParaRPr lang="en-US" sz="3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через доказательства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3794760"/>
            <a:ext cx="10058400" cy="0"/>
          </a:xfrm>
          <a:prstGeom prst="line">
            <a:avLst/>
          </a:prstGeom>
          <a:noFill/>
          <a:ln w="38100">
            <a:solidFill>
              <a:srgbClr val="0B1F2A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22960" y="3429000"/>
            <a:ext cx="731520" cy="731520"/>
          </a:xfrm>
          <a:prstGeom prst="ellipse">
            <a:avLst/>
          </a:prstGeom>
          <a:solidFill>
            <a:srgbClr val="C95B54"/>
          </a:solidFill>
          <a:ln w="12700">
            <a:solidFill>
              <a:srgbClr val="C95B5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0–5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4434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95B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ручной concierge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892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интервью · 5 оплат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3429000"/>
            <a:ext cx="731520" cy="731520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5–20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566160" y="4434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69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партнёры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4892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дизайнеры · агентства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3429000"/>
            <a:ext cx="731520" cy="731520"/>
          </a:xfrm>
          <a:prstGeom prst="ellipse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21–50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55080" y="4434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D5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SEO + samples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4892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map · кейсы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89720" y="3429000"/>
            <a:ext cx="731520" cy="73152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51–100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144000" y="4434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channel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0" y="4892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 ≤ 2,3k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608076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5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Трафик не масштабируется до качества и измеренного human time.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 advClick="1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D5C55"/>
          </a:solidFill>
          <a:ln w="12700">
            <a:solidFill>
              <a:srgbClr val="0D5C5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5661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ЭКОНОМИКА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Положительный cash</a:t>
            </a:r>
            <a:endParaRPr lang="en-US" sz="3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равен устойчивому бизнесу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49240" cy="3520440"/>
          </a:xfrm>
          <a:prstGeom prst="roundRect">
            <a:avLst>
              <a:gd name="adj" fmla="val 4675"/>
            </a:avLst>
          </a:prstGeom>
          <a:solidFill>
            <a:srgbClr val="0D5C55"/>
          </a:solidFill>
          <a:ln w="12700">
            <a:solidFill>
              <a:srgbClr val="0D5C5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6208" y="2057400"/>
            <a:ext cx="5303520" cy="3520440"/>
          </a:xfrm>
          <a:prstGeom prst="roundRect">
            <a:avLst>
              <a:gd name="adj" fmla="val 4675"/>
            </a:avLst>
          </a:prstGeom>
          <a:solidFill>
            <a:srgbClr val="0B1F2A"/>
          </a:solidFill>
          <a:ln w="12700">
            <a:solidFill>
              <a:srgbClr val="0B1F2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3957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404872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1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VIEW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32688" y="29718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+671 тыс. ₽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950976" y="3886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стартового резерва</a:t>
            </a:r>
            <a:endParaRPr lang="en-US" sz="1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 зарплат founders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537960" y="2395728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240487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1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 VIEW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37960" y="297180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−4,13 млн ₽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6565392" y="388620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старта и 4,8 млн ₽</a:t>
            </a:r>
            <a:endParaRPr lang="en-US" sz="1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теневых зарплат founders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" y="605332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Выручка 2,744 млн ₽ · 240 B2C cases · Stage A assumptions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5661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1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РИСКИ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Трое ворот перед</a:t>
            </a:r>
            <a:endParaRPr lang="en-US" sz="3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production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2331720" cy="2331720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C95B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C95B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34564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СПРОС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≥5 оплат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 20 qualified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2331720"/>
            <a:ext cx="2331720" cy="2331720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D69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743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D69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709160" y="34564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4069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critical errors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20 blind cases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03920" y="2331720"/>
            <a:ext cx="2331720" cy="2331720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rgbClr val="18A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2743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A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503920" y="34564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НАДЁЖНОСТЬ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4069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concurrent jobs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 потери/дубля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0120" y="5742432"/>
            <a:ext cx="10012680" cy="0"/>
          </a:xfrm>
          <a:prstGeom prst="line">
            <a:avLst/>
          </a:prstGeom>
          <a:noFill/>
          <a:ln w="38100">
            <a:solidFill>
              <a:srgbClr val="18A999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960120" y="592531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DE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P0: privacy · consent · retention · backup/restore · human escalation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 advClick="1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5C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48056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1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PROOF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масштабировать обещание.</a:t>
            </a:r>
            <a:endParaRPr lang="en-US" sz="3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Масштабировать доказательство.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09760" y="1234440"/>
            <a:ext cx="1965960" cy="1965960"/>
          </a:xfrm>
          <a:prstGeom prst="ellipse">
            <a:avLst/>
          </a:prstGeom>
          <a:solidFill>
            <a:srgbClr val="FFFFFF">
              <a:alpha val="0"/>
            </a:srgbClr>
          </a:solidFill>
          <a:ln w="76200">
            <a:solidFill>
              <a:srgbClr val="18A9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0" y="17556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509760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кейсов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4937760"/>
            <a:ext cx="9875520" cy="0"/>
          </a:xfrm>
          <a:prstGeom prst="line">
            <a:avLst/>
          </a:prstGeom>
          <a:noFill/>
          <a:ln w="38100">
            <a:solidFill>
              <a:srgbClr val="F5F2EA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777240" y="4663440"/>
            <a:ext cx="530352" cy="530352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440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интервью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4663440"/>
            <a:ext cx="530352" cy="530352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5440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20-case quality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23560" y="4663440"/>
            <a:ext cx="530352" cy="530352"/>
          </a:xfrm>
          <a:prstGeom prst="ellipse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5440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оплат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4663440"/>
            <a:ext cx="530352" cy="530352"/>
          </a:xfrm>
          <a:prstGeom prst="ellipse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5440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оплат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469880" y="4663440"/>
            <a:ext cx="530352" cy="530352"/>
          </a:xfrm>
          <a:prstGeom prst="ellipse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0" y="5440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канал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6355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DE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Регистра · август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 advClick="1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Регистра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Регистра — инвесторская презентация</dc:title>
  <dc:subject>Регистра — инвесторская презентация</dc:subject>
  <dc:creator>Регистра</dc:creator>
  <cp:lastModifiedBy>Регистра</cp:lastModifiedBy>
  <cp:revision>1</cp:revision>
  <dcterms:created xsi:type="dcterms:W3CDTF">2026-08-28T14:43:19Z</dcterms:created>
  <dcterms:modified xsi:type="dcterms:W3CDTF">2026-08-28T14:43:19Z</dcterms:modified>
</cp:coreProperties>
</file>
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2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2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0D5C55"/>
          </a:solidFill>
          <a:ln w="12700">
            <a:solidFill>
              <a:srgbClr val="0D5C5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48056"/>
            <a:ext cx="83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РЕГИСТРА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8046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Проверьте риск</a:t>
            </a:r>
            <a:endParaRPr lang="en-US" sz="4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 оплаты пошлин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76656" y="306324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6472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Анализ обозначения, точный МКТУ</a:t>
            </a:r>
            <a:endParaRPr lang="en-US" sz="2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6472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 документы для подачи в одном маршруте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372600" y="1325880"/>
            <a:ext cx="2011680" cy="2011680"/>
          </a:xfrm>
          <a:prstGeom prst="ellipse">
            <a:avLst/>
          </a:prstGeom>
          <a:solidFill>
            <a:srgbClr val="FFFFFF">
              <a:alpha val="0"/>
            </a:srgbClr>
          </a:solidFill>
          <a:ln w="76200">
            <a:solidFill>
              <a:srgbClr val="18A9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93808" y="1847088"/>
            <a:ext cx="969264" cy="969264"/>
          </a:xfrm>
          <a:prstGeom prst="ellipse">
            <a:avLst/>
          </a:prstGeom>
          <a:solidFill>
            <a:srgbClr val="F5F2EA"/>
          </a:solidFill>
          <a:ln w="25400">
            <a:solidFill>
              <a:srgbClr val="0D5C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93808" y="2048256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D5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658368" y="5257800"/>
            <a:ext cx="9875520" cy="0"/>
          </a:xfrm>
          <a:prstGeom prst="line">
            <a:avLst/>
          </a:prstGeom>
          <a:noFill/>
          <a:ln w="38100">
            <a:solidFill>
              <a:srgbClr val="0B1F2A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822960" y="5010912"/>
            <a:ext cx="475488" cy="475488"/>
          </a:xfrm>
          <a:prstGeom prst="ellipse">
            <a:avLst/>
          </a:prstGeom>
          <a:solidFill>
            <a:srgbClr val="0B1F2A"/>
          </a:solidFill>
          <a:ln w="12700">
            <a:solidFill>
              <a:srgbClr val="0B1F2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5687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94760" y="5010912"/>
            <a:ext cx="475488" cy="475488"/>
          </a:xfrm>
          <a:prstGeom prst="ellipse">
            <a:avLst/>
          </a:prstGeom>
          <a:solidFill>
            <a:srgbClr val="0B1F2A"/>
          </a:solidFill>
          <a:ln w="12700">
            <a:solidFill>
              <a:srgbClr val="0B1F2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5687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факт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5010912"/>
            <a:ext cx="475488" cy="475488"/>
          </a:xfrm>
          <a:prstGeom prst="ellipse">
            <a:avLst/>
          </a:prstGeom>
          <a:solidFill>
            <a:srgbClr val="0B1F2A"/>
          </a:solidFill>
          <a:ln w="12700">
            <a:solidFill>
              <a:srgbClr val="0B1F2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5687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вывод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738360" y="5010912"/>
            <a:ext cx="475488" cy="475488"/>
          </a:xfrm>
          <a:prstGeom prst="ellipse">
            <a:avLst/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0" y="5687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действие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2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D5C55"/>
          </a:solidFill>
          <a:ln w="12700">
            <a:solidFill>
              <a:srgbClr val="0D5C5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56616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СНАЧАЛА РЕШЕНИЕ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841248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42 900 ₽ — минимальный бюджет</a:t>
            </a:r>
            <a:endParaRPr lang="en-US" sz="3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простого кейса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303520" cy="3246120"/>
          </a:xfrm>
          <a:prstGeom prst="roundRect">
            <a:avLst>
              <a:gd name="adj" fmla="val 5070"/>
            </a:avLst>
          </a:prstGeom>
          <a:solidFill>
            <a:srgbClr val="0B1F2A"/>
          </a:solidFill>
          <a:ln w="12700">
            <a:solidFill>
              <a:srgbClr val="0B1F2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6974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35 000 ₽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60120" y="361188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минимальные госпошлины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 один класс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4892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69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Ошибка scope стоит дороже проверки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6208" y="2240280"/>
            <a:ext cx="5303520" cy="3246120"/>
          </a:xfrm>
          <a:prstGeom prst="roundRect">
            <a:avLst>
              <a:gd name="adj" fmla="val 5070"/>
            </a:avLst>
          </a:prstGeom>
          <a:solidFill>
            <a:srgbClr val="F5F2EA"/>
          </a:solidFill>
          <a:ln w="19050">
            <a:solidFill>
              <a:srgbClr val="DDE9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6974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0D5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7 900 ₽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583680" y="361188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анализ + МКТУ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DOCX / ZIP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0" y="4828032"/>
            <a:ext cx="1965960" cy="256032"/>
          </a:xfrm>
          <a:prstGeom prst="roundRect">
            <a:avLst>
              <a:gd name="adj" fmla="val 50000"/>
            </a:avLst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93408" y="4837176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1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ПОШЛИНЫ ОТДЕЛЬНО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2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D5C55"/>
          </a:solidFill>
          <a:ln w="12700">
            <a:solidFill>
              <a:srgbClr val="0D5C5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56616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РЕЗУЛЬТАТ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841248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Три результата вместо</a:t>
            </a:r>
            <a:endParaRPr lang="en-US" sz="3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десятка разрозненных шагов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58368" y="2240280"/>
            <a:ext cx="3401568" cy="3383280"/>
          </a:xfrm>
          <a:prstGeom prst="roundRect">
            <a:avLst>
              <a:gd name="adj" fmla="val 4865"/>
            </a:avLst>
          </a:prstGeom>
          <a:solidFill>
            <a:srgbClr val="0B1F2A"/>
          </a:solidFill>
          <a:ln w="12700">
            <a:solidFill>
              <a:srgbClr val="0B1F2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542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69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3246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КОНФЛИКТЫ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32688" y="41605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причины риска</a:t>
            </a:r>
            <a:endParaRPr lang="en-US" sz="1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 источники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480560" y="2240280"/>
            <a:ext cx="3401568" cy="3383280"/>
          </a:xfrm>
          <a:prstGeom prst="roundRect">
            <a:avLst>
              <a:gd name="adj" fmla="val 4865"/>
            </a:avLst>
          </a:prstGeom>
          <a:solidFill>
            <a:srgbClr val="0D5C55"/>
          </a:solidFill>
          <a:ln w="12700">
            <a:solidFill>
              <a:srgbClr val="0D5C5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542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69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3246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ТОЧНЫЙ МКТУ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0" y="41605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классы и перечень</a:t>
            </a:r>
            <a:endParaRPr lang="en-US" sz="1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под деятельность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302752" y="2240280"/>
            <a:ext cx="3401568" cy="3383280"/>
          </a:xfrm>
          <a:prstGeom prst="roundRect">
            <a:avLst>
              <a:gd name="adj" fmla="val 4865"/>
            </a:avLst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77072" y="2542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69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77072" y="32461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DOCX + ZIP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577072" y="41605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редактируемые файлы</a:t>
            </a:r>
            <a:endParaRPr lang="en-US" sz="1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для подачи и архива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8368" y="610819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2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Пограничное дело переключается на юриста без повторного заполнения.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2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 advClick="1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56616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1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 ЭТО РАБОТАЕТ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841248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Одна заявка.</a:t>
            </a:r>
            <a:endParaRPr lang="en-US" sz="3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Шесть понятных этапов.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3703320"/>
            <a:ext cx="10058400" cy="0"/>
          </a:xfrm>
          <a:prstGeom prst="line">
            <a:avLst/>
          </a:prstGeom>
          <a:noFill/>
          <a:ln w="38100">
            <a:solidFill>
              <a:srgbClr val="18A999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13232" y="3291840"/>
            <a:ext cx="777240" cy="777240"/>
          </a:xfrm>
          <a:prstGeom prst="ellipse">
            <a:avLst/>
          </a:prstGeom>
          <a:solidFill>
            <a:srgbClr val="0D5C55"/>
          </a:solidFill>
          <a:ln w="25400">
            <a:solidFill>
              <a:srgbClr val="18A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5204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" y="4343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ДАННЫЕ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06624" y="3291840"/>
            <a:ext cx="777240" cy="777240"/>
          </a:xfrm>
          <a:prstGeom prst="ellipse">
            <a:avLst/>
          </a:prstGeom>
          <a:solidFill>
            <a:srgbClr val="0D5C55"/>
          </a:solidFill>
          <a:ln w="25400">
            <a:solidFill>
              <a:srgbClr val="18A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06624" y="35204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22576" y="4343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ИЗВЛЕЧЕНИЕ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0016" y="3291840"/>
            <a:ext cx="777240" cy="777240"/>
          </a:xfrm>
          <a:prstGeom prst="ellipse">
            <a:avLst/>
          </a:prstGeom>
          <a:solidFill>
            <a:srgbClr val="0D5C55"/>
          </a:solidFill>
          <a:ln w="25400">
            <a:solidFill>
              <a:srgbClr val="18A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35204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15968" y="4343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МКТУ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93408" y="3291840"/>
            <a:ext cx="777240" cy="777240"/>
          </a:xfrm>
          <a:prstGeom prst="ellipse">
            <a:avLst/>
          </a:prstGeom>
          <a:solidFill>
            <a:srgbClr val="0D5C55"/>
          </a:solidFill>
          <a:ln w="25400">
            <a:solidFill>
              <a:srgbClr val="18A9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35204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4343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РИСК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86800" y="3291840"/>
            <a:ext cx="777240" cy="777240"/>
          </a:xfrm>
          <a:prstGeom prst="ellipse">
            <a:avLst/>
          </a:prstGeom>
          <a:solidFill>
            <a:srgbClr val="0D5C55"/>
          </a:solidFill>
          <a:ln w="25400">
            <a:solidFill>
              <a:srgbClr val="18A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35204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02752" y="4343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ПОШЛИНЫ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680192" y="3291840"/>
            <a:ext cx="777240" cy="777240"/>
          </a:xfrm>
          <a:prstGeom prst="ellipse">
            <a:avLst/>
          </a:prstGeom>
          <a:solidFill>
            <a:srgbClr val="D69E2E"/>
          </a:solidFill>
          <a:ln w="25400">
            <a:solidFill>
              <a:srgbClr val="18A9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80192" y="35204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296144" y="4343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ДОКУМЕНТЫ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" y="57150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 видите, откуда взялся каждый важный факт и что делать дальше.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2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D5C55"/>
          </a:solidFill>
          <a:ln w="12700">
            <a:solidFill>
              <a:srgbClr val="0D5C5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56616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ПРОВЕРЯЕМО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841248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Каждый важный вывод</a:t>
            </a:r>
            <a:endParaRPr lang="en-US" sz="3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можно проверить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60120" y="3657600"/>
            <a:ext cx="9738360" cy="0"/>
          </a:xfrm>
          <a:prstGeom prst="line">
            <a:avLst/>
          </a:prstGeom>
          <a:noFill/>
          <a:ln w="38100">
            <a:solidFill>
              <a:srgbClr val="18A999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22960" y="3246120"/>
            <a:ext cx="822960" cy="822960"/>
          </a:xfrm>
          <a:prstGeom prst="ellipse">
            <a:avLst/>
          </a:prstGeom>
          <a:solidFill>
            <a:srgbClr val="0D5C55"/>
          </a:solidFill>
          <a:ln w="25400">
            <a:solidFill>
              <a:srgbClr val="18A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4930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315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D5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2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реестр или документ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94760" y="3246120"/>
            <a:ext cx="822960" cy="822960"/>
          </a:xfrm>
          <a:prstGeom prst="ellipse">
            <a:avLst/>
          </a:prstGeom>
          <a:solidFill>
            <a:srgbClr val="0D5C55"/>
          </a:solidFill>
          <a:ln w="25400">
            <a:solidFill>
              <a:srgbClr val="18A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34930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4315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D5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ФАКТ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2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найдено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3246120"/>
            <a:ext cx="822960" cy="822960"/>
          </a:xfrm>
          <a:prstGeom prst="ellipse">
            <a:avLst/>
          </a:prstGeom>
          <a:solidFill>
            <a:srgbClr val="0D5C55"/>
          </a:solidFill>
          <a:ln w="25400">
            <a:solidFill>
              <a:srgbClr val="18A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34930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4315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D5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ВЫВОД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2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это риск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738360" y="3246120"/>
            <a:ext cx="822960" cy="822960"/>
          </a:xfrm>
          <a:prstGeom prst="ellipse">
            <a:avLst/>
          </a:prstGeom>
          <a:solidFill>
            <a:srgbClr val="D69E2E"/>
          </a:solidFill>
          <a:ln w="25400">
            <a:solidFill>
              <a:srgbClr val="18A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38360" y="34930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464040" y="4315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D5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ДЕЙСТВИЕ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3544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2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исправить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Без гарантии регистрации: показываем основания, ограничения и момент для юриста.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2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 advClick="1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D5C55"/>
          </a:solidFill>
          <a:ln w="12700">
            <a:solidFill>
              <a:srgbClr val="0D5C5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56616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ЦЕНА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841248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Понятная база.</a:t>
            </a:r>
            <a:endParaRPr lang="en-US" sz="3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Доплаты только по сценарию.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22402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0D5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7 900 ₽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85800" y="32461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анализ + МКТУ + DOCX/ZIP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74920" y="2148840"/>
            <a:ext cx="0" cy="3429000"/>
          </a:xfrm>
          <a:prstGeom prst="line">
            <a:avLst/>
          </a:prstGeom>
          <a:noFill/>
          <a:ln w="38100">
            <a:solidFill>
              <a:srgbClr val="0B1F2A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532120" y="22402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472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ГОСПОШЛИНЫ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532120" y="25877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 35 000 ₽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418320" y="26426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2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отдельно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32120" y="33832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472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 ЮРИСТОМ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32120" y="37307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11 900–17 900 ₽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418320" y="37856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2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тестовый диапазон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32120" y="45262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472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ОТВЕТ ПО ЗАПРОСУ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32120" y="48737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 9 900 ₽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418320" y="49286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2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после уведомления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" y="6080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D5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 оплаты показываем полный ожидаемый бюджет сценария.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2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 advClick="1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D5C55"/>
          </a:solidFill>
          <a:ln w="12700">
            <a:solidFill>
              <a:srgbClr val="0D5C5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56616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МАРШРУТИЗАЦИЯ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841248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Сервис не притворяется,</a:t>
            </a:r>
            <a:endParaRPr lang="en-US" sz="3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все дела одинаковые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58368" y="2240280"/>
            <a:ext cx="109728" cy="841248"/>
          </a:xfrm>
          <a:prstGeom prst="roundRect">
            <a:avLst>
              <a:gd name="adj" fmla="val 50000"/>
            </a:avLst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240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8A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ПРОСТОЙ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71800" y="221284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самостоятельный пакет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0" y="2240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472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1–3 класса · понятный заявитель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3474720"/>
            <a:ext cx="109728" cy="841248"/>
          </a:xfrm>
          <a:prstGeom prst="roundRect">
            <a:avLst>
              <a:gd name="adj" fmla="val 50000"/>
            </a:avLst>
          </a:prstGeom>
          <a:solidFill>
            <a:srgbClr val="D69E2E"/>
          </a:solidFill>
          <a:ln w="12700">
            <a:solidFill>
              <a:srgbClr val="D69E2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69E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ПОГРАНИЧНЫЙ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71800" y="344728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 юристом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0800" y="3474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472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сомнительное сходство · сложный перечень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" y="4709160"/>
            <a:ext cx="109728" cy="841248"/>
          </a:xfrm>
          <a:prstGeom prst="roundRect">
            <a:avLst>
              <a:gd name="adj" fmla="val 50000"/>
            </a:avLst>
          </a:prstGeom>
          <a:solidFill>
            <a:srgbClr val="C95B54"/>
          </a:solidFill>
          <a:ln w="12700">
            <a:solidFill>
              <a:srgbClr val="C95B5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4709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95B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СЛОЖНЫЙ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71800" y="468172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8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сразу к специалисту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00800" y="4709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472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спор · отказ · иностранный элемент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" y="6053328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D5C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Если автоматизация не подходит, вы узнаете это до неверных документов.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2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5C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D69E2E"/>
          </a:solidFill>
          <a:ln w="12700">
            <a:solidFill>
              <a:srgbClr val="D69E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48056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B1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СЛЕДУЮЩИЙ ШАГ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Проверьте, подходит ли</a:t>
            </a:r>
            <a:endParaRPr lang="en-US" sz="4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ваш случай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76656" y="29718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Несколько вопросов — и понятный маршрут</a:t>
            </a:r>
            <a:endParaRPr lang="en-US" sz="2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 загрузки документов и оплаты.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58368" y="4251960"/>
            <a:ext cx="4297680" cy="713232"/>
          </a:xfrm>
          <a:prstGeom prst="roundRect">
            <a:avLst>
              <a:gd name="adj" fmla="val 50000"/>
            </a:avLst>
          </a:prstGeom>
          <a:solidFill>
            <a:srgbClr val="18A999"/>
          </a:solidFill>
          <a:ln w="12700">
            <a:solidFill>
              <a:srgbClr val="18A99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44531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B1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ПРОВЕРИТЬ МОЙ СЛУЧАЙ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326880" y="1417320"/>
            <a:ext cx="2011680" cy="2011680"/>
          </a:xfrm>
          <a:prstGeom prst="ellipse">
            <a:avLst/>
          </a:prstGeom>
          <a:solidFill>
            <a:srgbClr val="FFFFFF">
              <a:alpha val="0"/>
            </a:srgbClr>
          </a:solidFill>
          <a:ln w="76200">
            <a:solidFill>
              <a:srgbClr val="18A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0" y="1965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58368" y="60533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5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Без гарантии регистрации · сложные дела направляются юристу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2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 advClick="1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Регистра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Регистра — клиентская презентация</dc:title>
  <dc:subject>Регистра — клиентская презентация</dc:subject>
  <dc:creator>Регистра</dc:creator>
  <cp:lastModifiedBy>Регистра</cp:lastModifiedBy>
  <cp:revision>1</cp:revision>
  <dcterms:created xsi:type="dcterms:W3CDTF">2026-08-28T14:43:22Z</dcterms:created>
  <dcterms:modified xsi:type="dcterms:W3CDTF">2026-08-28T14:43:22Z</dcterms:modified>
</cp:coreProperties>
</file>